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4669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C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Proactive Retention Architecture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188720" y="32461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Safeguarding High-Value Subscriptions at MTN Ghana via Precision Machine Learning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257800" y="4160520"/>
            <a:ext cx="1645920" cy="0"/>
          </a:xfrm>
          <a:prstGeom prst="line">
            <a:avLst/>
          </a:prstGeom>
          <a:noFill/>
          <a:ln w="19050">
            <a:solidFill>
              <a:srgbClr val="FFCC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43434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Proof of Concept (PoC) for Operational Scaling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59893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C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Positioning &amp; Market Grounding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 GHANA  |  PRECISION RETENTION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Message: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Market Saturation under Regulatory Constraints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Context:  </a:t>
            </a: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 Ghana dominates with over 31 million subscribers, but macroeconomic pressures (including Cedi depreciation) squeeze the Average Revenue Per User (ARPU). Maintaining account stability is the primary driver of profitability.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Constraint:  </a:t>
            </a: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designated Significant Market Power (SMP) by the NCA, MTN is legally restricted from offering the lowest market tariffs or launching aggressive mass price discounts against competitors like Telecel and AT.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80060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Shift:  </a:t>
            </a: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lowering margins via blanket tariff cuts, MTN must use Precision Retention—using machine learning to identify and reward only specific at-risk individuals.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26680" y="1325880"/>
            <a:ext cx="3794760" cy="4937760"/>
          </a:xfrm>
          <a:prstGeom prst="roundRect">
            <a:avLst>
              <a:gd name="adj" fmla="val 1928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4020" y="160020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26680" y="233172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C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31M+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7726680" y="30632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SUBSCRIBERS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370332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549640" y="36301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Designated Significant Market Power (SMP)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445312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549640" y="437997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 under sustained Cedi pressure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5202936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549640" y="512978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Retention over blanket discounts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C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Architecture &amp; Preprocessing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 GHANA  |  PRECISION RETENTION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Message: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Relational Data into Clean Predictors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166360" cy="4297680"/>
          </a:xfrm>
          <a:prstGeom prst="roundRect">
            <a:avLst>
              <a:gd name="adj" fmla="val 1702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945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C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Ingestion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005840" y="2743200"/>
            <a:ext cx="44348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971800"/>
            <a:ext cx="4434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1-to-1 merge linking customer profile matrices (Client.csv) with behavioral usage history tables (Record.csv) across 100,000 distinct accounts.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5840" y="4526280"/>
            <a:ext cx="4434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securely established a comprehensive, unified relational database ensuring each profile is paired directly with its real-world network consumption metrics.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55080" y="1920240"/>
            <a:ext cx="5166360" cy="4297680"/>
          </a:xfrm>
          <a:prstGeom prst="roundRect">
            <a:avLst>
              <a:gd name="adj" fmla="val 1702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21945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C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Retention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720840" y="2743200"/>
            <a:ext cx="44348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2971800"/>
            <a:ext cx="4434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dropping sparse demographic rows (which would delete over 73% of rows), missing values were strategically handled.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720840" y="4526280"/>
            <a:ext cx="4434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like dwelling sizes and vehicle indices were filled with column medians (numeric) or labeled as an explicit 'Unknown' category to capture profile incompleteness as a predictive signal.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C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Behavioral EDA — The "Bill Shock" Trap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 GHANA  |  PRECISION RETENTION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Message: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Friction is Driven by Overage Penalties, Not Base Tariffs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Insight: Analysis shows that base monthly revenue profiles look nearly identical between users who stay and those who leave.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However, churners experience a sudden drop in call minutes combined with a sharp spike in overage charges (ovrrev_Mean).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4754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unexpected "bill shock" prompts them to abandon their lines. Standard top-line revenue tracking entirely misses this critical friction point.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92240" y="1371600"/>
            <a:ext cx="502920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0" descr="/home/claude/mtn_pptx/images/Screenshot_2026-06-19_1037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724823"/>
            <a:ext cx="4572000" cy="18655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C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Lifecycle EDA — The Vulnerability Curve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 GHANA  |  PRECISION RETENTION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Message: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Handset Longevity Establishes the Competitor Poaching Window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Insight: The data conclusively proves that customer churn risk sharply accelerates once a subscriber's current device (eqpdays) passes the 365-day mark.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one-year window represents the exact moment when competitors aggressively poach these users with device upgrades and smartphone financing deals.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4754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operations must evolve to directly address this hardware decay cycle.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92240" y="1371600"/>
            <a:ext cx="502920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0" descr="/home/claude/mtn_pptx/images/Screenshot_2026-06-19_1037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300461"/>
            <a:ext cx="4572000" cy="27142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C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Pipeline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 GHANA  |  PRECISION RETENTION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Message: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Utilizing Random Forest for Highly Interpretable Operational Intelligence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322320" cy="4297680"/>
          </a:xfrm>
          <a:prstGeom prst="roundRect">
            <a:avLst>
              <a:gd name="adj" fmla="val 2202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480" y="23774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337560"/>
            <a:ext cx="277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Choice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4069080"/>
            <a:ext cx="2682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 Random Forest Classifier using an 80/20 stratified split to mirror real-world operational deployments and preserve natural churn baselines.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19600" y="1920240"/>
            <a:ext cx="3322320" cy="4297680"/>
          </a:xfrm>
          <a:prstGeom prst="roundRect">
            <a:avLst>
              <a:gd name="adj" fmla="val 2202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377440"/>
            <a:ext cx="731520" cy="7315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93920" y="3337560"/>
            <a:ext cx="277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Model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739640" y="4069080"/>
            <a:ext cx="2682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easily handles the extreme usage outliers common in telecom data and is exceptionally resilient against data overfitting.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99120" y="1920240"/>
            <a:ext cx="3322320" cy="4297680"/>
          </a:xfrm>
          <a:prstGeom prst="roundRect">
            <a:avLst>
              <a:gd name="adj" fmla="val 2202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4520" y="2377440"/>
            <a:ext cx="731520" cy="7315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73440" y="3337560"/>
            <a:ext cx="277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Parameters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8519160" y="4069080"/>
            <a:ext cx="2682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with 100 estimators and a maximum depth of 10 to balance absolute predictive capability with required real-time computational execution speeds.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C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vs. Business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 GHANA  |  PRECISION RETENTION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Message: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Prioritizing Recall to Secure Recurring Revenue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97880" y="2011680"/>
            <a:ext cx="0" cy="420624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774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FFC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65.2%</a:t>
            </a:r>
            <a:endParaRPr lang="en-US" sz="100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METRIC: RECALL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434340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successfully flags and catches 65.2% of all actual churners before they leave the network.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210312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■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(61.48%):  </a:t>
            </a: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classification capability across a dense feature set.</a:t>
            </a:r>
            <a:endParaRPr lang="en-US" sz="1400" dirty="0"/>
          </a:p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(60.30%):  </a:t>
            </a: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6 out of 10 targeted retention offers hit a valid target.</a:t>
            </a:r>
            <a:endParaRPr lang="en-US" sz="1400" dirty="0"/>
          </a:p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Choice:  </a:t>
            </a: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telecom retention operations, a False Negative (missing a churner) loses you an entire account's lifetime value. A False Alarm (giving an incentive to a loyal user) costs almost nothing to deploy. Thus, maximizing Recall is the most profitable choice.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C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Algorithmic Findings &amp; Feature Importance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 GHANA  |  PRECISION RETENTION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Message: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Predictors Confirm Handset and Tenure Dominance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Verdict: The algorithm mathematically verifies that eqpdays (Equipment Age) and months (Customer Tenure) carry the heaviest predictive weight across the entire data matrix.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fundamentally a hardware lifecycle and engagement duration problem, proving that retention campaigns must pivot away from generic price discounts.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92240" y="1371600"/>
            <a:ext cx="502920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0" descr="/home/claude/mtn_pptx/images/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026637"/>
            <a:ext cx="4572000" cy="32619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C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Quantified Financial Impact (Validation Sample)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 GHANA  |  PRECISION RETENTION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Message: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Predictions into Direct Revenue Recovery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Microeconomic Reality (on a 20,000 holdout segment): the model successfully isolated 6,463 True Churners hidden within active network traffic.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an average user revenue profile, protecting this group secures substantial recurring income.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4754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assuming a highly conservative 25% campaign mitigation success rate, the net financial recovery far outweighs the minimal cost of sending targeted SMS bundle incentives.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92240" y="1371600"/>
            <a:ext cx="502920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0" descr="/home/claude/mtn_pptx/images/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614155"/>
            <a:ext cx="4572000" cy="40868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C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Precision Retention Playbook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 GHANA  |  PRECISION RETENTION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Message: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ML Predictions into Scaled Operational Actions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322320" cy="4297680"/>
          </a:xfrm>
          <a:prstGeom prst="roundRect">
            <a:avLst>
              <a:gd name="adj" fmla="val 2202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480" y="23774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337560"/>
            <a:ext cx="277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 1: Automated Handset Intercepts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4069080"/>
            <a:ext cx="2682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triggers a direct loyalty upgrade notification leveraging "MTN Pick &amp; Pay Later" smartphone financing the moment an account passes day 360 on an aging device.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19600" y="1920240"/>
            <a:ext cx="3322320" cy="4297680"/>
          </a:xfrm>
          <a:prstGeom prst="roundRect">
            <a:avLst>
              <a:gd name="adj" fmla="val 2202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377440"/>
            <a:ext cx="731520" cy="7315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93920" y="3337560"/>
            <a:ext cx="277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 2: Proactive Plan Resizing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739640" y="4069080"/>
            <a:ext cx="2682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identify accounts with dropping minutes and rising overage costs, proactively upgrading them to a larger bundle tier to eliminate bill shock frustration.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99120" y="1920240"/>
            <a:ext cx="3322320" cy="4297680"/>
          </a:xfrm>
          <a:prstGeom prst="roundRect">
            <a:avLst>
              <a:gd name="adj" fmla="val 2202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4520" y="2377440"/>
            <a:ext cx="731520" cy="7315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73440" y="3337560"/>
            <a:ext cx="277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 3: Mobile Money (MoMo) Rewards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8519160" y="4069080"/>
            <a:ext cx="2682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MTN's fastest-growing revenue stream. Route targeted loyalty cash-backs via MoMo to deepen integration, preserving high-margin transaction fees.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C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Commercial Quotation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 GHANA  |  PRECISION RETENTION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Message: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Investment Structure for Full-Scale System Deployment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the standard consulting structures presented in previous successful firm engagements, we propose a two-tiered commercial partnership: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10881360" cy="333756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C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 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C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/ Inclusions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C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Investment Fee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AI Engine License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integration of our verified Random Forest predictive engine directly into MTN Ghana's internal data lakes, including automated batch-scoring scripts.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GHS 1,500,000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(One-time execution fee)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Advisory Retainer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model retraining, feature engineering updates (e.g., macro indicators), algorithmic updates, and continuous campaign optimization support.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GHS 100,000 / month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(36-month standard contract)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88720" y="571500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Proposition: This total deployment cost represents a small fraction of the projected multi-million Cedi annual revenue recovery generated by scaling our 65.2% Recall model across the full subscriber base.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1129</Words>
  <Application>Microsoft Office PowerPoint</Application>
  <PresentationFormat>Widescreen</PresentationFormat>
  <Paragraphs>100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Proactive Retention Architecture - MTN Ghana</dc:title>
  <dc:subject>PptxGenJS Presentation</dc:subject>
  <dc:creator>Samuel Amankwah Esuon</dc:creator>
  <cp:lastModifiedBy>Samuel Esuon</cp:lastModifiedBy>
  <cp:revision>2</cp:revision>
  <dcterms:created xsi:type="dcterms:W3CDTF">2026-06-19T10:50:02Z</dcterms:created>
  <dcterms:modified xsi:type="dcterms:W3CDTF">2026-06-19T10:54:23Z</dcterms:modified>
</cp:coreProperties>
</file>